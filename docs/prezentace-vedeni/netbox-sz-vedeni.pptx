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Úvodní věta: "Nemáme dnes jedno místo, kde by bylo napsáno, co v naší síti je a co spolu smí komunikovat. Chci ukázat, že to jde mít, že to jde mít zadarmo a že data přitom neopustí barák."
Nepředstírej, že pilot běžel na naší síti — běžel na demo datech výrobce. Řekni to hned, získáš tím důvěru na celý zbytek.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Tohle je celá prezentace ve zkratce. Kdyby tě po třech minutách přerušili a zeptali se "tak co po nás chcete", odpověz větou tři: chceme mít doklad, ne obrázek.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Nemluv o nástrojích, mluv o tom, co se děje dnes. Vedení to zná z vlastní zkušenosti — každý z nich už někdy čekal na odpověď "co je na tom portu".
Kdyby padla námitka "vždyť něco máme": ano, máme dílčí evidence. Nemáme jednu, na kterou se dá odkázat.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Konkrétní paragrafy nového zákona o kybernetické bezpečnosti si před jednáním ověř u bezpečnosti — nechci, aby ses chytil na číslo, které se mezitím změnilo. Mluv o povinnostech, ne o paragrafech.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Nezamlčuj, že existuje i placená verze od NetBox Labs. Řekni rovnou: komunitní vydání nám stačí, placená podpora je volba, ne podmínka. Kdo to ví od tebe, nebude to považovat za háček.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Tohle je věta, kterou si mají zapamatovat. Zopakuj ji.
Kdyby se někdo zeptal "a nestačí nám IP Fabric sám?": umí vlastní kontroly a je v tom dobrý. Neumí ale držet schválený stav v jazyce systémů a vlastníků a nedá se do něj pustit auditor ani vlastník aplikace. To je rozdíl mezi měřicím přístrojem a evidencí.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Zdůrazni slovo AUTOMATICKY a slovo DEMO. Obojí musí zaznít v jedné větě, jinak si budou myslet, že je to naše síť.
Číslo, které zabírá nejvíc: 4 618 rozhraní. Ručně by to nikdo nikdy nesepsal.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Krok 3 je ten, který vedení ocení nejvíc, i když to není vidět na první pohled: import nikdy nesahá do ostrých dat napřímo. Nejdřív návrh, pak schválení. Stejný princip, jaký znají z řízení změn.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Buď tady maximálně poctivý: sepsání matice je práce lidí a bude to bolet. Když to zamlčíš a vyjde to najevo za půl roku, přijdeš o kredit. Když to řekneš teď, vypadá to jako realistický plán, ne jako prodej.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Tady zpomal. Tohle je intelektuální jádro celé prezentace a zároveň to, čím se odlišíš od běžné prezentace o nástroji.
Příklad na dokreslení: služba, která jedním směrem funguje a druhým ne, protože chybí trasa zpátky. Firewall to neukáže, protože se k němu provoz vůbec nedostane.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Poslední věta je nejsilnější moment celé prezentace. Řekni ji pomalu a nech chvíli ticho.
Pokud se zeptají "a co by to našlo u nás?" — odpověz upřímně: nevím, a právě proto o to žádám. Nikdy neslibuj konkrétní počet nálezů.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Nezdržuj se tu dlouho. Je to slide "co bude, až to poběží" — vedení potřebuje vidět, že to není jednorázový projekt, ale schopnost, která zůstane.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Tenhle slide je odpověď na námitku dřív, než zazní. Kompletní mapa sítě je přesně to, co by útočník chtěl — a právě proto ji nechceme nikde venku.
Zároveň je to argument pro otevřený zdroj, ne proti němu: u uzavřeného produktu nevíš, co posílá domů.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Poslední řádek je záměrně v tabulce. Kdybys ho vynechal a někdo se zeptá, vypadá to, že jsi to schoval. Takhle vypadáš jako člověk, který ví, do čeho jde.
Čísla u serveru si před jednáním ověř podle toho, co je zvykem u nás — ať nesedí vedle člověka z provozu a nekroutí hlavou.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Vytáhni námitky sám dřív, než je vytáhnou oni. Kdo si připraví protiargumenty, působí připraveně; kdo se nechá zaskočit, působí nadšeně.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Tenhle slide je pro provozní lidi v místnosti. Vedení ho přejde, ale kdyby chyběl, provozní by námitku vznesl a rozhodnutí by se odložilo.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Termíny jsou odhad a řekni to tak. Fáze 2 závisí na tom, jak rychle se podaří dostat dohromady vlastníky systémů — to není v tvých rukou a je poctivé to přiznat.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Skonči tímhle slidem a nech ho na plátně během diskuse. Tři konkrétní věci, nic vágního.
Kdyby došlo na "kolik to bude stát celkem" — vrať se na slide s náklady a zopakuj, že největší položka je práce, kterou kvůli regulaci odvedeme tak jako tak.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502920" cy="82296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783080"/>
            <a:ext cx="9326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sítě jako doklad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kybernetické bezpečnosti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576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9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NetBox — otevřený zdroj, data na našich serverech, nulové licenční náklady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Návrh pro vedení Správy železnic</a:t>
            </a:r>
            <a:pPr indent="0" marL="0">
              <a:buNone/>
            </a:pPr>
            <a:r>
              <a:rPr lang="en-US" sz="1300" dirty="0">
                <a:solidFill>
                  <a:srgbClr val="24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</a:t>
            </a:r>
            <a:pPr indent="0" marL="0">
              <a:buNone/>
            </a:pPr>
            <a:r>
              <a:rPr lang="en-US" sz="1300" dirty="0">
                <a:solidFill>
                  <a:srgbClr val="8FA4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ověřeno na pilotu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SHRNUTÍ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Tři věty na začátek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96596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Dnes nemáme evidenci sítě.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33172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Neexistuje jedno místo, kde je zapsáno, co v síti je, komu to patří a co spolu smí komunikovat. Každý audit i každá změna proto začíná ručním zjišťováním.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106424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338328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Nástroj na to máme a je zdarma.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74904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NetBox je otevřený software bez licenčních poplatků. IP Fabric, který ho naplní daty, už ve firmě je. Spojení obojího je práce, ne nákup.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1064240" cy="12344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80060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Výstupem je doklad, ne obrázek.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516636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komunikační matice říká, co prochází, co nemá, a kdo to má řešit — s časem, jménem a historií. Přesně to, na co se ptá auditor.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VÝCHOZÍ STAV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nás dnes stojí, že evidenci nemáme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12848"/>
            <a:ext cx="118872" cy="118872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15568" y="208483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Nikdo neví, co přesně v síti je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50545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Inventář žije v hlavách lidí a v tabulkách, které si každý vede po svém. Při odchodu člověka odchází i znalost.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2212848"/>
            <a:ext cx="118872" cy="118872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30568" y="208483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Změna se plánuje naslepo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830568" y="250545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 každým zásahem se ručně zjišťuje, co je na co navázané. Trvá to dny a stejně se na něco zapomene.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34924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087368"/>
            <a:ext cx="118872" cy="118872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15568" y="395935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Pravidla firewallu nikdo neumí obhájit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437997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Pravidla přibývají, neubývají. Nikdo neví, které je ještě potřeba a které tam zbylo po projektu z roku 2019.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703320"/>
            <a:ext cx="534924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4087368"/>
            <a:ext cx="118872" cy="118872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30568" y="3959352"/>
            <a:ext cx="4526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začíná od nuly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6830568" y="4379976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Každá kontrola znamená znovu posbírat podklady. Není z čeho doložit, že něco platí, natož od kdy.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NIS2 A KYBERNETICKÁ BEZPEČNOST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po nás chce regulace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32004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76272"/>
            <a:ext cx="118872" cy="118872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88720" y="20391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aktiv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1993392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Vědět, co provozujeme. Ne seznam serverů, ale síť včetně vazeb.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926080"/>
            <a:ext cx="118872" cy="118872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2788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Řízení přístupu mezi segmenty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7432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Doložit, které komunikace jsou povolené a proč — a že se to kontroluje.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675888"/>
            <a:ext cx="118872" cy="118872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188720" y="3538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Doložitelnost v čase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349300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Ukázat nejen dnešní stav, ale i že se stav kontroloval, kdy a s jakým výsledkem.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425696"/>
            <a:ext cx="118872" cy="118872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88720" y="428853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Řízení změn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4389120" y="4242816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Vědět, kdo co změnil a proti čemu se změna posuzovala.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4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Žádný z těchto bodů není o nákupu nástroje. Všechny jsou o tom, mít data a umět je předložit.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NÁSTROJ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je NetBox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858000" cy="329184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sítě, kterou používá většina velkých operátorů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51760"/>
            <a:ext cx="6263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Otevřený software, licence Apache 2.0 — bez poplatků, bez omezení počtu zařízení či uživatelů.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Běží na našem serveru, v naší síti, s naší databází. Nic neodchází ven.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Zavedený standard: dokumentace, komunita, dostupné znalosti na trhu práce.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Otevřené rozhraní — data se dají napojit na ticketing, monitoring i automatizaci.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26680" y="1783080"/>
            <a:ext cx="3886200" cy="3291840"/>
          </a:xfrm>
          <a:prstGeom prst="roundRect">
            <a:avLst>
              <a:gd name="adj" fmla="val 1111"/>
            </a:avLst>
          </a:prstGeom>
          <a:solidFill>
            <a:srgbClr val="16232B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0" y="2103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FB3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Licenční náklady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269748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Kč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8046720" y="37947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ročně, bez ohledu na velikost sítě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TO ZAPADÁ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Dva nástroje, každý na jinou otázku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288036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4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Fabric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už ve firmě máme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Odpovídá na otázku „jak to je".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Projde síť, načte konfigurace a stav, a umí spočítat, kudy provoz reálně teče a kde se zahodí.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49240" cy="288036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44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NetBox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4231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chceme doplnit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788920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Odpovídá na otázku „jak to má být".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Drží schválený stav, vlastníky, komunikační matici a historii kontrol. To IP Fabric ze své podstaty neví.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074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Hodnota nevzniká v žádném z nich zvlášť. Vzniká porovnáním.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už je vyzkoušené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Postaveno a odladěno na vývojovém PC, s daty z veřejné demo sítě výrobce IP Fabricu. Import proběhl bez ručního zásahu.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604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560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44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365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zařízení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2377440"/>
            <a:ext cx="260604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2560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44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4 618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rozhraní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377440"/>
            <a:ext cx="260604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2560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44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1 713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adres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52560" y="2377440"/>
            <a:ext cx="260604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81160" y="25603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244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9281160" y="3291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11064240" cy="14173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4348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 výše vzniklo automaticky z jednoho snímku sítě. Nikdo nic neopisoval, nic se needitovalo ručně. Stejný postup zafunguje na našem IP Fabricu — liší se jen adresa a přihlašovací údaje.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se to plní daty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48256"/>
            <a:ext cx="420624" cy="420624"/>
          </a:xfrm>
          <a:prstGeom prst="ellipse">
            <a:avLst/>
          </a:prstGeom>
          <a:solidFill>
            <a:srgbClr val="24424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66544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842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 Fabric projde síť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195681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Načte konfigurace a stav ze zařízení. Tuhle část už dnes provozujeme.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852928"/>
            <a:ext cx="110642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072384"/>
            <a:ext cx="420624" cy="420624"/>
          </a:xfrm>
          <a:prstGeom prst="ellipse">
            <a:avLst/>
          </a:prstGeom>
          <a:solidFill>
            <a:srgbClr val="24424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090672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0083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se přenesou do NetBoxu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98094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Automaticky, přes rozhraní. Bez ručního přepisování.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77056"/>
            <a:ext cx="110642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96512"/>
            <a:ext cx="420624" cy="420624"/>
          </a:xfrm>
          <a:prstGeom prst="ellipse">
            <a:avLst/>
          </a:prstGeom>
          <a:solidFill>
            <a:srgbClr val="24424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114800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0325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Vznikne návrh změn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4005072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nezapisuje rovnou. Nejdřív ukáže, co by se změnilo, a to jde schválit.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901184"/>
            <a:ext cx="1106424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120640"/>
            <a:ext cx="420624" cy="420624"/>
          </a:xfrm>
          <a:prstGeom prst="ellipse">
            <a:avLst/>
          </a:prstGeom>
          <a:solidFill>
            <a:srgbClr val="24424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138928"/>
            <a:ext cx="420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0566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Změny se promítnou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50292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Teprve po schválení. S historií, kdo a kdy.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24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Celý běh na 8 000 záznamech trvá přibližně 25 minut a dá se spustit na plán, třeba každou noc.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JÁDRO PŘÍNOSU PRO KYBERNETICKOU BEZPEČNOST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Komunikační matice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to je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Seznam tvrzení o tom, co spolu smí a nesmí komunikovat. Vzniká z architektury aplikací a od vlastníků systémů — není to síťový dokument, je to rozhodnutí firmy.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Dnes taková tabulka neexistuje. Její sepsání je největší kus práce celého zavedení a nenahradí ho žádný nástroj.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49240" cy="3337560"/>
          </a:xfrm>
          <a:prstGeom prst="roundRect">
            <a:avLst>
              <a:gd name="adj" fmla="val 1096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s ní umíme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377440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řádek matice se ověří simulací cesty v IP Fabricu a porovná se skutečností. Nic se přitom do sítě neposílá.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Výstupem je seznam rozporů s časem, odpovědností a historií. Kontrola se dá pustit opakovaně a sledovat vývoj.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SE ČTE VÝSLEDEK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„Neprojde" nejsou dvě slova, ale tři situace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146304" cy="146304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029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POŘÁDKU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450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Skutečnost odpovídá matici.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9626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Neřeší nikdo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49240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2148840"/>
            <a:ext cx="146304" cy="146304"/>
          </a:xfrm>
          <a:prstGeom prst="rect">
            <a:avLst/>
          </a:prstGeom>
          <a:solidFill>
            <a:srgbClr val="B335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0" y="2029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33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PORUŠENÍ MATICE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4505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Zakázaná komunikace prochází.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9626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Řeší bezpečnost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49240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069080"/>
            <a:ext cx="146304" cy="146304"/>
          </a:xfrm>
          <a:prstGeom prst="rect">
            <a:avLst/>
          </a:prstGeom>
          <a:solidFill>
            <a:srgbClr val="9A61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143000" y="3950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6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CHYBÍ PRAVIDLO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370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Povolenou komunikaci zahodil firewall.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8828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Řeší správce pravidel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749040"/>
            <a:ext cx="5349240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4069080"/>
            <a:ext cx="146304" cy="146304"/>
          </a:xfrm>
          <a:prstGeom prst="rect">
            <a:avLst/>
          </a:prstGeom>
          <a:solidFill>
            <a:srgbClr val="3E4E9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39502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3E4E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NEDOSTUPNÉ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43708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Zahozeno bez účasti firewallu — chybí trasa.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488289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Řeší síťař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24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Poslední kategorii nenajde žádná analýza firewallových pravidel — rozbitá služba, o které firewall vůbec neví.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UKÁZKA METODY — NE NAŠE SÍŤ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kontrola našla na demo síti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Čtyřicet řádků matice, jeden běh, necelá minuta. Nálezy níže pocházejí z veřejné demo sítě výrobce, ne ze Správy železnic.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846320"/>
                <a:gridCol w="2560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Nález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Zjištění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Telnet otevřený na prvcích správy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Nešifrovaná správa je průchozí, včetně firewallu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Porušení matice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 z cloudu do vnitřní sítě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Provoz projde přes tři pravidla až k cíli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Porušení matice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Sdílení souborů mezi pobočkami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Prochází přes páteř, matice to zakazuje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Porušení matice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Služba funguje jen jedním směrem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Zpět chybí trasa, firewall v tom nefiguruje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Nedostupné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Správa firewallu z jádra nefunguje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Zahozeno na prvním prvku, nikdo o tom neví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Nedostupné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Takhle vypadá výsledek na síti, kterou nikdo předtím takto nezkontroloval. Naši síť zatím nikdo nezkontroloval vůbec.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VÝHLED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z toho vyroste dál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02536"/>
            <a:ext cx="118872" cy="118872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19019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Analýza sítě před změnou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87452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je na co navázané, koho se zásah dotkne, co se stane při výpadku prvku. Odpověď z evidence místo obvolávání.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07792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172968"/>
            <a:ext cx="118872" cy="118872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307238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Návrh změn nanečisto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3044952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Změna se dá namodelovat stranou, prohlédnout jako rozdíl a teprve pak schválit. Stejný mechanismus, jakým probíhá import.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78224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343400"/>
            <a:ext cx="118872" cy="118872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42428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Pravidelná kontrola bez člověka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4215384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matice běží na plán. Když někdo otevře pravidlo, které tam nepatří, víme to ráno, ne u příštího auditu.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248656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5513832"/>
            <a:ext cx="118872" cy="118872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143000" y="54132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Podklady pro audit na jedno kliknutí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5385816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 se kontrolovalo, co vyšlo, kdo to spustil. Historie je vedlejší produkt provozu, ne zvláštní úkol.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CITLIVOST DAT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972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Kompletní popis sítě je citlivý dokument.</a:t>
            </a:r>
            <a:endParaRPr lang="en-US" sz="29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 zůstane u nás.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68680" y="2916936"/>
            <a:ext cx="118872" cy="118872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2788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Vlastní server ve vnitřní síti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303520" y="274320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Žádná cloudová služba, žádný externí provozovatel, žádné odesílání dat ven.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3785616"/>
            <a:ext cx="118872" cy="118872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3657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Vlastní databáze a zálohy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303520" y="361188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 zálohy leží na našich discích, pod našimi pravidly pro uchovávání.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4654296"/>
            <a:ext cx="118872" cy="118872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4526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Přístup jen pro určené role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448056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NetBox má vlastní správu oprávnění — kdo co vidí a kdo smí měnit, se nastavuje po skupinách.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5522976"/>
            <a:ext cx="118872" cy="118872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88720" y="5394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Otevřený kód znamená kontrolu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53492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Nikdo neposílá telemetrii, kterou bychom neviděli. Kód je veřejný a auditovatelný.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NÁKLADY — POCTIVĚ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to bude stát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926080"/>
                <a:gridCol w="44805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Položka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Náklad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Poznámka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 NetBox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Kč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Otevřený software, Apache 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Fabric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Kč navíc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Máme, využijeme stávající licenci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jeden virtuál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jádra, 8 GB RAM, 100 GB disku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Zálohování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rámci stávajícího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Databáze a konfigurace, denně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Provoz a aktualizace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jednotky hodin měsíčně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Aktualizace dvakrát až čtyřikrát ročně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Sestavení matice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největší položka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D6E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Práce vlastníků systémů, ne nástroje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Neskrývám poslední řádek. Nástroj je zdarma, práce není — a je to práce, kterou kvůli regulaci odvedeme i tak.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MŮŽE NEVYJÍT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Rizika a jak je řešíme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5623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33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„Otevřený software nemá podporu."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883664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Komunitní vydání má dokumentaci i širokou komunitu. Placená podpora od výrobce existuje a dá se dokoupit, když ji budeme chtít — není podmínkou provozu.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02666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33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„Bude na tom viset jeden člověk."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3054096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Postup je zdokumentovaný, instalace je standardní kontejnerová a znalost NetBoxu je běžně dostupná na trhu. Dokumentace vzniká průběžně, ne až na konci.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078224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419709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33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„Data budou zastaralá."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4224528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běží automaticky na plán z IP Fabricu. Zastarat může jen to, co plníme ručně — a to je právě matice, kde se počítá s pravidelnou revizí.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248656"/>
            <a:ext cx="1106424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53675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B33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„Nikdo to nebude používat."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539496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 začínáme kontrolou matice, ne budováním evidence pro evidenci. První výstup je seznam konkrétních nálezů, ne prázdná databáze.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ÚDRŽBA, ZÁLOHY, PŘÍSTUP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Jak se to provozuje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611880"/>
          </a:xfrm>
          <a:prstGeom prst="roundRect">
            <a:avLst>
              <a:gd name="adj" fmla="val 1039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2066544"/>
            <a:ext cx="118872" cy="118872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7280" y="1938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Aktualizace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37744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Nová verze NetBoxu vychází přibližně čtvrtletně. Aktualizace je výměna kontejneru a migrace databáze, řádově desítky minut, s možností vrátit se zpět.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Nemusí se aktualizovat každá verze — držíme se stabilní řady.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1783080"/>
            <a:ext cx="3520440" cy="3611880"/>
          </a:xfrm>
          <a:prstGeom prst="roundRect">
            <a:avLst>
              <a:gd name="adj" fmla="val 1039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2066544"/>
            <a:ext cx="118872" cy="118872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73752" y="1938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Zálohy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37744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Zálohuje se databáze a konfigurace. Obojí je malé, řádově stovky megabajtů, a zapadne do stávajícího zálohovacího režimu.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Obnova je nasazení zálohy do čistého kontejneru, vyzkoušené.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1584" y="1783080"/>
            <a:ext cx="3520440" cy="3611880"/>
          </a:xfrm>
          <a:prstGeom prst="roundRect">
            <a:avLst>
              <a:gd name="adj" fmla="val 1039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94192" y="2066544"/>
            <a:ext cx="118872" cy="118872"/>
          </a:xfrm>
          <a:prstGeom prst="rect">
            <a:avLst/>
          </a:prstGeom>
          <a:solidFill>
            <a:srgbClr val="E0A10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50224" y="19385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Přístup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94192" y="2377440"/>
            <a:ext cx="2971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Přes webové rozhraní ve vnitřní síti, s přihlášením. Oprávnění se řídí po skupinách a dají se navázat na doménové účty.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Čtenářský přístup pro audit či vlastníky aplikací je bez rizika.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A KDY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Plán zavedení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280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4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Fáze 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505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týdnů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 a první data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166360" y="2011680"/>
            <a:ext cx="6172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Instalace ve vnitřní síti, napojení na firemní IP Fabric, první automatický import, ověření inventáře proti skutečnosti.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64408"/>
            <a:ext cx="11064240" cy="1280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4930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4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Fáze 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6–10 týdnů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34930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Matice a první kontrola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3447288"/>
            <a:ext cx="6172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Sestavení komunikační matice s vlastníky systémů, první běh kontroly, vyhodnocení nálezů s bezpečností.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700016"/>
            <a:ext cx="11064240" cy="12801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5DE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92861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44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Fáze 3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5321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průběžně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49286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Pravidelný provoz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4882896"/>
            <a:ext cx="6172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na plán, reporty pro kybernetickou bezpečnost, postupné rozšiřování o další segmenty a zdroje dat.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24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První hmatatelný výstup — seznam nálezů z naší vlastní sítě — je na konci fáze 2.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ROZHODNUTÍ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1430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co žádáme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10515600" cy="960120"/>
          </a:xfrm>
          <a:prstGeom prst="roundRect">
            <a:avLst>
              <a:gd name="adj" fmla="val 3810"/>
            </a:avLst>
          </a:prstGeom>
          <a:solidFill>
            <a:srgbClr val="1F323C"/>
          </a:solidFill>
          <a:ln w="9525">
            <a:solidFill>
              <a:srgbClr val="24424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6974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26334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Jeden virtuální server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99923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vnitřní síti, zařazený do stávajícího zálohování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611880"/>
            <a:ext cx="10515600" cy="960120"/>
          </a:xfrm>
          <a:prstGeom prst="roundRect">
            <a:avLst>
              <a:gd name="adj" fmla="val 3810"/>
            </a:avLst>
          </a:prstGeom>
          <a:solidFill>
            <a:srgbClr val="1F323C"/>
          </a:solidFill>
          <a:ln w="9525">
            <a:solidFill>
              <a:srgbClr val="24424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43000" y="38404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783080" y="37764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Čtenářský přístup k IP Fabricu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414223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servisní účet s právem číst data přes rozhraní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754880"/>
            <a:ext cx="10515600" cy="960120"/>
          </a:xfrm>
          <a:prstGeom prst="roundRect">
            <a:avLst>
              <a:gd name="adj" fmla="val 3810"/>
            </a:avLst>
          </a:prstGeom>
          <a:solidFill>
            <a:srgbClr val="1F323C"/>
          </a:solidFill>
          <a:ln w="9525">
            <a:solidFill>
              <a:srgbClr val="2442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49834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49194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Vyčleněný čas a garanta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528523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8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část úvazku na zavedení a odpovědnou osobu z bezpečnosti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0A1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Žádné licenční náklady. Žádná data mimo firmu. První výsledky do konce druhé fáze.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NetBox pro Spravu zeleznic</dc:title>
  <dc:subject>PptxGenJS Presentation</dc:subject>
  <dc:creator>Maier Roman</dc:creator>
  <cp:lastModifiedBy>Maier Roman</cp:lastModifiedBy>
  <cp:revision>1</cp:revision>
  <dcterms:created xsi:type="dcterms:W3CDTF">2026-10-11T01:50:21Z</dcterms:created>
  <dcterms:modified xsi:type="dcterms:W3CDTF">2026-10-11T01:50:21Z</dcterms:modified>
</cp:coreProperties>
</file>